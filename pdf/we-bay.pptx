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7" r:id="rId3"/>
    <p:sldId id="257" r:id="rId4"/>
    <p:sldId id="258" r:id="rId5"/>
    <p:sldId id="268" r:id="rId6"/>
    <p:sldId id="260" r:id="rId7"/>
    <p:sldId id="259" r:id="rId8"/>
    <p:sldId id="269" r:id="rId9"/>
    <p:sldId id="261" r:id="rId10"/>
    <p:sldId id="262" r:id="rId11"/>
    <p:sldId id="263" r:id="rId12"/>
    <p:sldId id="266" r:id="rId13"/>
    <p:sldId id="264" r:id="rId14"/>
    <p:sldId id="270" r:id="rId15"/>
    <p:sldId id="271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E5F5"/>
    <a:srgbClr val="163E64"/>
    <a:srgbClr val="3A72AB"/>
    <a:srgbClr val="3A70AA"/>
    <a:srgbClr val="3A70AB"/>
    <a:srgbClr val="3B72AB"/>
    <a:srgbClr val="3B72AC"/>
    <a:srgbClr val="3B70AA"/>
    <a:srgbClr val="437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60"/>
  </p:normalViewPr>
  <p:slideViewPr>
    <p:cSldViewPr snapToGrid="0">
      <p:cViewPr varScale="1">
        <p:scale>
          <a:sx n="91" d="100"/>
          <a:sy n="91" d="100"/>
        </p:scale>
        <p:origin x="81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7D084-7D91-45B3-9FA5-CFDC4253039F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5A7D0-38EC-4346-9AD0-15F8491FBB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7792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5A7D0-38EC-4346-9AD0-15F8491FBB7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3229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5A7D0-38EC-4346-9AD0-15F8491FBB7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3465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6C301-868E-C445-44BD-BE3214D8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78DD33A-9706-824E-DB70-767A456E1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78B597F-AFB2-E3F2-C22B-8665DA5E0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3749D7-4370-F351-8F02-1F8291641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5A7D0-38EC-4346-9AD0-15F8491FBB70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6256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5A7D0-38EC-4346-9AD0-15F8491FBB70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3404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E2935-84C4-E1F9-191A-6C1352E7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C80233C-D9DE-D868-6402-67C7791A2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35E906A-72C9-DEC6-9FE5-09E6225B0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11EE561-4650-22C9-BF66-9D3B38FBA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5A7D0-38EC-4346-9AD0-15F8491FBB70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9906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603C9-A919-F11B-4034-448A344A2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4F2DC5F-99D1-7E2D-614F-3DE0C1641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A83E954-D130-A906-5EAC-ABB228BE0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99E0269-D7EC-CCD3-109E-57E3E6D15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5A7D0-38EC-4346-9AD0-15F8491FBB70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6104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658E5D-5837-4791-E953-0A26CAAE3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243EC6A-03D8-2155-BB17-C85228F0C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8A76E97-9E03-DD58-9E00-CC016B61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B055-B5D6-4619-8E92-CDA30F9E3007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221B8F-F7C3-49D1-EEE8-4A9C21BA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EEAD8C-17A2-0ADC-BB6D-C530D56E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88BC-0E96-430E-B574-35A061A9DE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694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139C18-3E3A-4A7C-0109-2A789223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142289-DA97-9EC5-741F-EEE999476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CD157E-D04C-CCF0-9640-D0ECDAD0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B055-B5D6-4619-8E92-CDA30F9E3007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92A8E6-2756-3839-774C-595CB6FF3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B29090-DE88-8339-BF08-4D2146D03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88BC-0E96-430E-B574-35A061A9DE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675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8DAEF4-8D66-6E57-FCE7-094722E2E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7519D8-2A2A-0290-5C00-19D83A5AB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DE313AA-2878-F42E-25A9-D1C3D41A2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B055-B5D6-4619-8E92-CDA30F9E3007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4E50FE4-2987-6C89-B90C-ACD14F428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A01C97-B0E7-C3D8-3920-06E79F4F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88BC-0E96-430E-B574-35A061A9DE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8383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3DC29C-9D6D-B1DF-C35E-91D0B2248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236470-36B7-F616-8305-2309E3D6D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1C34C4F-08B5-7607-2531-FDE3484D3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579E2A9-FEEC-8FF6-1970-74DD32FDE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B055-B5D6-4619-8E92-CDA30F9E3007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1FD4D3E-1E98-DDFE-9FD9-1B635E3AE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91D83C8-2538-7D92-94C4-D35B6E88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88BC-0E96-430E-B574-35A061A9DE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3458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14342E-B63A-D78F-AC45-AF8C479E0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448B26-93A5-0B79-DAF9-E315855E2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1A7DA2-E745-DFA9-50BB-BEA3A3F51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002E49-8498-F232-77F5-B38E30D0FB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A05A728-53E5-A84C-3A04-55DD5DD6F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0B9AD3E-B8B9-C2CF-7AA8-AE22E7C1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B055-B5D6-4619-8E92-CDA30F9E3007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1DDAC69-16FC-F6FB-45A6-758348B09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DAC5ACB-808B-7335-ED2A-58198A69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88BC-0E96-430E-B574-35A061A9DE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3296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115C1F-C548-1B11-B4CB-BB777A2BC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7A91EC7-3FC1-D1D7-B25F-AF70F28C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B055-B5D6-4619-8E92-CDA30F9E3007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1154951-5B1B-9ABF-154B-5E81CA4BE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8EBB775-BC6D-5BBE-03FF-93FF2F01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88BC-0E96-430E-B574-35A061A9DE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15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47F35E6-7CC4-526B-3474-03B81C07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B055-B5D6-4619-8E92-CDA30F9E3007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ED59A67-7B54-8EC7-793E-037A267B2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6E50F2-C304-33FE-4229-F37DFB8C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88BC-0E96-430E-B574-35A061A9DE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069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1E3658-48E2-6FC7-0304-17786D207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B00D64-198F-419B-46A4-86BE546AE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221514D-9B48-171F-D20E-A133D8DB2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72399A-E49F-C184-7015-CA4FE44A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B055-B5D6-4619-8E92-CDA30F9E3007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AA38450-5490-4CE6-9788-5CF2B13AD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206932-9690-E242-3C7B-433B02398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88BC-0E96-430E-B574-35A061A9DE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050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FCE13B-32C7-FB68-20C8-112537755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8F23D1-C9D9-49C8-9504-96B057A9A2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07CE3FC-2A13-A585-BFA0-473BBCF50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45F2AA-8C73-6898-8A35-E151C1B6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B055-B5D6-4619-8E92-CDA30F9E3007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EEDAC9-E24C-561A-8BF0-88E05BCA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3DC9F02-63BF-E79B-BFB0-6F011BFF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88BC-0E96-430E-B574-35A061A9DE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1370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F11489-8397-A0FE-0473-A9CE31EC2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D86A6F4-356E-0B10-642E-4E680615B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475BB7-1660-94C2-65EF-D8FA26306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B055-B5D6-4619-8E92-CDA30F9E3007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52F9FD-4FC9-4C5E-5454-0DAEA14ED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08B37AA-BBF5-0CED-F0DF-76EC429B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88BC-0E96-430E-B574-35A061A9DE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677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8912B0B-FC4B-E812-85C1-90E36717F1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1457BC4-5035-CAC2-4CD0-283484689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FFC3A9-D8AF-2793-68A7-82D258F4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B055-B5D6-4619-8E92-CDA30F9E3007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6AE0260-5F11-66CC-182C-ABB091C4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1E6FBE-9287-2E7B-7FC0-91299FB8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88BC-0E96-430E-B574-35A061A9DE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648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1018E47-EE35-0A40-8740-A34D66C5B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605854F-C09D-BDFA-25B7-42EEA1581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2969E14-81EB-6F1C-E665-4C5D6749A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1B055-B5D6-4619-8E92-CDA30F9E3007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70B60F-13B9-87D8-3D11-797E09F3A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6F4AFF9-4127-0F53-0400-127E54967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688BC-0E96-430E-B574-35A061A9DE6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800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.png" /><Relationship Id="rId4" Type="http://schemas.openxmlformats.org/officeDocument/2006/relationships/image" Target="../media/image4.jp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jp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1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3.png" /><Relationship Id="rId5" Type="http://schemas.openxmlformats.org/officeDocument/2006/relationships/image" Target="../media/image12.png" /><Relationship Id="rId4" Type="http://schemas.openxmlformats.org/officeDocument/2006/relationships/image" Target="../media/image7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5.png" /><Relationship Id="rId4" Type="http://schemas.openxmlformats.org/officeDocument/2006/relationships/image" Target="../media/image8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7.png" /><Relationship Id="rId4" Type="http://schemas.openxmlformats.org/officeDocument/2006/relationships/image" Target="../media/image16.png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 /><Relationship Id="rId3" Type="http://schemas.openxmlformats.org/officeDocument/2006/relationships/image" Target="../media/image1.png" /><Relationship Id="rId7" Type="http://schemas.openxmlformats.org/officeDocument/2006/relationships/image" Target="../media/image2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0.png" /><Relationship Id="rId11" Type="http://schemas.openxmlformats.org/officeDocument/2006/relationships/image" Target="../media/image25.png" /><Relationship Id="rId5" Type="http://schemas.openxmlformats.org/officeDocument/2006/relationships/image" Target="../media/image19.png" /><Relationship Id="rId10" Type="http://schemas.openxmlformats.org/officeDocument/2006/relationships/image" Target="../media/image24.png" /><Relationship Id="rId4" Type="http://schemas.openxmlformats.org/officeDocument/2006/relationships/image" Target="../media/image18.png" /><Relationship Id="rId9" Type="http://schemas.openxmlformats.org/officeDocument/2006/relationships/image" Target="../media/image23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5" Type="http://schemas.openxmlformats.org/officeDocument/2006/relationships/hyperlink" Target="https://pixabay.com/en/check-boretto-mark-1289751/" TargetMode="External" /><Relationship Id="rId4" Type="http://schemas.openxmlformats.org/officeDocument/2006/relationships/image" Target="../media/image2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3C7DAF73-0D01-2B7C-C237-84655D0E4D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B8F8DD32-D746-D33A-9989-1A28F2C055B1}"/>
              </a:ext>
            </a:extLst>
          </p:cNvPr>
          <p:cNvSpPr/>
          <p:nvPr/>
        </p:nvSpPr>
        <p:spPr>
          <a:xfrm>
            <a:off x="2445577" y="3266308"/>
            <a:ext cx="730084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4400" b="1" cap="none" spc="0" dirty="0" err="1">
                <a:ln w="1905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we-bay</a:t>
            </a:r>
            <a:endParaRPr lang="it-IT" sz="4400" b="1" cap="none" spc="0" dirty="0">
              <a:ln w="1905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  <a:p>
            <a:pPr algn="ctr"/>
            <a:r>
              <a:rPr lang="it-IT" sz="4400" b="1" dirty="0">
                <a:ln w="1905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sito di annunci per immobili</a:t>
            </a:r>
            <a:endParaRPr lang="it-IT" sz="4400" b="1" cap="none" spc="0" dirty="0">
              <a:ln w="1905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2C7C108-6A55-8E1E-9317-E9BFAB976725}"/>
              </a:ext>
            </a:extLst>
          </p:cNvPr>
          <p:cNvSpPr/>
          <p:nvPr/>
        </p:nvSpPr>
        <p:spPr>
          <a:xfrm>
            <a:off x="1220351" y="4881258"/>
            <a:ext cx="975132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1" cap="none" spc="0" dirty="0">
                <a:ln w="9525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Francesco Iorio</a:t>
            </a:r>
            <a:r>
              <a:rPr lang="it-IT" sz="2400" b="1" dirty="0">
                <a:ln w="9525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, Andrea Mirarchi, Vincenzo Sacco, Francesco Ferraro</a:t>
            </a:r>
          </a:p>
          <a:p>
            <a:r>
              <a:rPr lang="it-IT" sz="2400" b="1" cap="none" spc="0" dirty="0">
                <a:ln w="9525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          220486		    246005</a:t>
            </a:r>
            <a:r>
              <a:rPr lang="it-IT" sz="2400" b="1" dirty="0">
                <a:ln w="9525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	             </a:t>
            </a:r>
            <a:r>
              <a:rPr lang="it-IT" sz="2400" b="1" cap="none" spc="0" dirty="0">
                <a:ln w="9525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234581		        223567</a:t>
            </a:r>
          </a:p>
        </p:txBody>
      </p:sp>
      <p:pic>
        <p:nvPicPr>
          <p:cNvPr id="3" name="Immagine 2" descr="Immagine che contiene testo, schermata, Rettangol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591F3A02-D824-8F66-351B-349A8C150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212" y="1574033"/>
            <a:ext cx="1679575" cy="167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2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B1105-4065-48FC-C862-CCD72EE9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6E22E183-D4DB-1AF1-71F5-4E0F181CF1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0C8503C-E6B0-02D8-29DD-EA01472C2B3D}"/>
              </a:ext>
            </a:extLst>
          </p:cNvPr>
          <p:cNvSpPr txBox="1"/>
          <p:nvPr/>
        </p:nvSpPr>
        <p:spPr>
          <a:xfrm>
            <a:off x="3414114" y="2705045"/>
            <a:ext cx="57193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6000" dirty="0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Lato acquirenti</a:t>
            </a:r>
            <a:endParaRPr lang="it-IT" sz="6000" dirty="0"/>
          </a:p>
        </p:txBody>
      </p:sp>
    </p:spTree>
    <p:extLst>
      <p:ext uri="{BB962C8B-B14F-4D97-AF65-F5344CB8AC3E}">
        <p14:creationId xmlns:p14="http://schemas.microsoft.com/office/powerpoint/2010/main" val="41270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A1F26-B9B9-70BE-4B41-89AC944B9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10A1F43B-CDB0-BC61-4AF1-CF833E11D2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83F1DA1-D35A-3948-FA97-792D684D600F}"/>
              </a:ext>
            </a:extLst>
          </p:cNvPr>
          <p:cNvSpPr txBox="1"/>
          <p:nvPr/>
        </p:nvSpPr>
        <p:spPr>
          <a:xfrm>
            <a:off x="398033" y="502035"/>
            <a:ext cx="426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Il sito parte con la richiesta di login</a:t>
            </a:r>
          </a:p>
        </p:txBody>
      </p:sp>
      <p:pic>
        <p:nvPicPr>
          <p:cNvPr id="4" name="Immagine 3" descr="Immagine che contiene testo, schermata, multimediale, software&#10;&#10;Il contenuto generato dall'IA potrebbe non essere corretto.">
            <a:extLst>
              <a:ext uri="{FF2B5EF4-FFF2-40B4-BE49-F238E27FC236}">
                <a16:creationId xmlns:a16="http://schemas.microsoft.com/office/drawing/2014/main" id="{05D4A38A-E213-FB28-212D-09C4E7F47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8" t="3676" r="6858" b="7501"/>
          <a:stretch>
            <a:fillRect/>
          </a:stretch>
        </p:blipFill>
        <p:spPr>
          <a:xfrm>
            <a:off x="532503" y="1081143"/>
            <a:ext cx="3291137" cy="5416475"/>
          </a:xfrm>
          <a:prstGeom prst="rect">
            <a:avLst/>
          </a:prstGeom>
        </p:spPr>
      </p:pic>
      <p:pic>
        <p:nvPicPr>
          <p:cNvPr id="7" name="Immagine 6" descr="Immagine che contiene testo, software, Pagina Web, Sito Web&#10;&#10;Il contenuto generato dall'IA potrebbe non essere corretto.">
            <a:extLst>
              <a:ext uri="{FF2B5EF4-FFF2-40B4-BE49-F238E27FC236}">
                <a16:creationId xmlns:a16="http://schemas.microsoft.com/office/drawing/2014/main" id="{A665BDF7-8DA6-AC65-03DB-61810E9D22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483" y="1246681"/>
            <a:ext cx="7089014" cy="339829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E7C6B244-7E43-B0FB-E806-30E7DEAE31B1}"/>
              </a:ext>
            </a:extLst>
          </p:cNvPr>
          <p:cNvSpPr txBox="1"/>
          <p:nvPr/>
        </p:nvSpPr>
        <p:spPr>
          <a:xfrm>
            <a:off x="4489972" y="502035"/>
            <a:ext cx="6161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Dopo il login, l’utente sarà in grado di vedere gli annunci caricati dai venditori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7435643-7119-3367-5035-3418AF03AD82}"/>
              </a:ext>
            </a:extLst>
          </p:cNvPr>
          <p:cNvSpPr txBox="1"/>
          <p:nvPr/>
        </p:nvSpPr>
        <p:spPr>
          <a:xfrm>
            <a:off x="4489972" y="4743292"/>
            <a:ext cx="61614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E sarà anche in grado di filtrarli per tipologia: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Appartamento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Villa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Terreno edificabile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Box auto</a:t>
            </a:r>
          </a:p>
          <a:p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E li può ordinare per prezzo e/o metri quadri</a:t>
            </a:r>
          </a:p>
        </p:txBody>
      </p:sp>
      <p:pic>
        <p:nvPicPr>
          <p:cNvPr id="3" name="Immagine 2" descr="Immagine che contiene testo, schermata, Rettangolo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4BA42DE3-DFCC-A854-7E94-0F5F6A453B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804" y="1246681"/>
            <a:ext cx="718534" cy="71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15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60416-0A1C-975E-038D-D0D13AB3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7205AF81-BFF9-0003-3BB7-D4EC9DCB35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BB233E8-16FA-E841-346F-B86E2B6C77C4}"/>
              </a:ext>
            </a:extLst>
          </p:cNvPr>
          <p:cNvSpPr txBox="1"/>
          <p:nvPr/>
        </p:nvSpPr>
        <p:spPr>
          <a:xfrm>
            <a:off x="5848862" y="1020951"/>
            <a:ext cx="57969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E se serve possono contattare il venditore tramite un form di supporto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2F20639-8FD9-A358-F876-3D467CBC9531}"/>
              </a:ext>
            </a:extLst>
          </p:cNvPr>
          <p:cNvSpPr txBox="1"/>
          <p:nvPr/>
        </p:nvSpPr>
        <p:spPr>
          <a:xfrm>
            <a:off x="-259980" y="974785"/>
            <a:ext cx="6355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Possono anche scrivere recensioni</a:t>
            </a:r>
          </a:p>
        </p:txBody>
      </p:sp>
      <p:pic>
        <p:nvPicPr>
          <p:cNvPr id="6" name="Immagine 5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ED38438A-0132-A5F9-BB13-A3A4EC55A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08" y="1795459"/>
            <a:ext cx="4698531" cy="3352075"/>
          </a:xfrm>
          <a:prstGeom prst="rect">
            <a:avLst/>
          </a:prstGeom>
        </p:spPr>
      </p:pic>
      <p:pic>
        <p:nvPicPr>
          <p:cNvPr id="8" name="Immagine 7" descr="Immagine che contiene testo, schermata, linea, Carattere&#10;&#10;Il contenuto generato dall'IA potrebbe non essere corretto.">
            <a:extLst>
              <a:ext uri="{FF2B5EF4-FFF2-40B4-BE49-F238E27FC236}">
                <a16:creationId xmlns:a16="http://schemas.microsoft.com/office/drawing/2014/main" id="{37F9ABE2-76C3-DFC2-F456-449984BC6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728" y="2026292"/>
            <a:ext cx="6121705" cy="189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04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9270-0F04-E825-2364-72602C281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F259B598-9FD6-692E-BA0B-58525D5B11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F8064F4-99E0-79F5-77C3-8092CF4D2B56}"/>
              </a:ext>
            </a:extLst>
          </p:cNvPr>
          <p:cNvSpPr txBox="1"/>
          <p:nvPr/>
        </p:nvSpPr>
        <p:spPr>
          <a:xfrm>
            <a:off x="3583996" y="2789388"/>
            <a:ext cx="53644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6000" dirty="0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Lato venditori</a:t>
            </a:r>
            <a:endParaRPr lang="it-IT" sz="6000" dirty="0"/>
          </a:p>
        </p:txBody>
      </p:sp>
    </p:spTree>
    <p:extLst>
      <p:ext uri="{BB962C8B-B14F-4D97-AF65-F5344CB8AC3E}">
        <p14:creationId xmlns:p14="http://schemas.microsoft.com/office/powerpoint/2010/main" val="208075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4E7F8-9D1A-1D47-D4D2-FC92D0CCF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9200B57F-2394-DA4D-315A-A0C8838225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FED637D-02EA-C5A0-078E-4D9D169F1AEA}"/>
              </a:ext>
            </a:extLst>
          </p:cNvPr>
          <p:cNvSpPr txBox="1"/>
          <p:nvPr/>
        </p:nvSpPr>
        <p:spPr>
          <a:xfrm>
            <a:off x="470863" y="458433"/>
            <a:ext cx="358767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Dal lato venditori:</a:t>
            </a:r>
          </a:p>
          <a:p>
            <a:endParaRPr lang="it-IT" dirty="0">
              <a:solidFill>
                <a:schemeClr val="accent1">
                  <a:lumMod val="75000"/>
                </a:schemeClr>
              </a:solidFill>
              <a:latin typeface="Amasis MT Pro Medium" panose="020F0502020204030204" pitchFamily="18" charset="0"/>
            </a:endParaRPr>
          </a:p>
          <a:p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Un annuncio è composto da: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Titolo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Descrizione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Prezzo prima del cambiamento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Prezzo nuovo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Prezzo asta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Superficie (in m</a:t>
            </a:r>
            <a:r>
              <a:rPr lang="it-IT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²</a:t>
            </a: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Indirizzo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Coordinate di Google Maps</a:t>
            </a:r>
          </a:p>
          <a:p>
            <a:pPr marL="742950" lvl="1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Latitudine</a:t>
            </a:r>
          </a:p>
          <a:p>
            <a:pPr marL="742950" lvl="1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Longitudine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Categoria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Venditore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Data creazione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Booleano che indica se è ancora in vendita</a:t>
            </a:r>
          </a:p>
          <a:p>
            <a:pPr marL="285750" indent="-285750">
              <a:buFontTx/>
              <a:buChar char="-"/>
            </a:pP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Foto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249590B-C43C-EFEE-0A79-4CCDA85854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65" t="13260" r="55817" b="22429"/>
          <a:stretch>
            <a:fillRect/>
          </a:stretch>
        </p:blipFill>
        <p:spPr>
          <a:xfrm>
            <a:off x="4799495" y="376579"/>
            <a:ext cx="3239375" cy="579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7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FB092-8004-2ECA-A697-AF384EE85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2815CB96-7CC3-4A17-FC2C-0EA32706A4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56123D8-C4E5-02AB-FEAE-DC5E4B338FE3}"/>
              </a:ext>
            </a:extLst>
          </p:cNvPr>
          <p:cNvSpPr txBox="1"/>
          <p:nvPr/>
        </p:nvSpPr>
        <p:spPr>
          <a:xfrm>
            <a:off x="324337" y="326501"/>
            <a:ext cx="35876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Dal lato venditori:</a:t>
            </a:r>
          </a:p>
          <a:p>
            <a:endParaRPr lang="it-IT" dirty="0">
              <a:solidFill>
                <a:schemeClr val="accent1">
                  <a:lumMod val="75000"/>
                </a:schemeClr>
              </a:solidFill>
              <a:latin typeface="Amasis MT Pro Medium" panose="020F0502020204030204" pitchFamily="18" charset="0"/>
            </a:endParaRPr>
          </a:p>
          <a:p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L’utente può:</a:t>
            </a:r>
          </a:p>
          <a:p>
            <a:endParaRPr lang="it-IT" dirty="0">
              <a:solidFill>
                <a:schemeClr val="accent1">
                  <a:lumMod val="20000"/>
                  <a:lumOff val="80000"/>
                </a:schemeClr>
              </a:solidFill>
              <a:latin typeface="Amasis MT Pro Medium" panose="020F0502020204030204" pitchFamily="18" charset="0"/>
            </a:endParaRPr>
          </a:p>
          <a:p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Inserire gli annunci</a:t>
            </a:r>
          </a:p>
          <a:p>
            <a:endParaRPr lang="it-IT" dirty="0">
              <a:solidFill>
                <a:schemeClr val="accent1">
                  <a:lumMod val="20000"/>
                  <a:lumOff val="80000"/>
                </a:schemeClr>
              </a:solidFill>
              <a:latin typeface="Amasis MT Pro Medium" panose="020F0502020204030204" pitchFamily="18" charset="0"/>
            </a:endParaRPr>
          </a:p>
          <a:p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Rimuoverli</a:t>
            </a:r>
          </a:p>
          <a:p>
            <a:endParaRPr lang="it-IT" dirty="0">
              <a:solidFill>
                <a:schemeClr val="accent1">
                  <a:lumMod val="20000"/>
                  <a:lumOff val="80000"/>
                </a:schemeClr>
              </a:solidFill>
              <a:latin typeface="Amasis MT Pro Medium" panose="020F0502020204030204" pitchFamily="18" charset="0"/>
            </a:endParaRPr>
          </a:p>
          <a:p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Modificarli</a:t>
            </a:r>
          </a:p>
          <a:p>
            <a:endParaRPr lang="it-IT" dirty="0">
              <a:solidFill>
                <a:schemeClr val="accent1">
                  <a:lumMod val="20000"/>
                  <a:lumOff val="80000"/>
                </a:schemeClr>
              </a:solidFill>
              <a:latin typeface="Amasis MT Pro Medium" panose="020F0502020204030204" pitchFamily="18" charset="0"/>
            </a:endParaRPr>
          </a:p>
          <a:p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E in caso di ribasso del prezzo, verrà visualizzato il prezzo vecchio sbarrato con il prezzo nuovo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129E990-7620-D1B7-B6D6-F409C6E52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045" y="364070"/>
            <a:ext cx="6817544" cy="6194385"/>
          </a:xfrm>
          <a:prstGeom prst="rect">
            <a:avLst/>
          </a:prstGeom>
        </p:spPr>
      </p:pic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63F7C47A-AD30-DF5D-4FBB-402707E0D725}"/>
              </a:ext>
            </a:extLst>
          </p:cNvPr>
          <p:cNvCxnSpPr>
            <a:cxnSpLocks/>
          </p:cNvCxnSpPr>
          <p:nvPr/>
        </p:nvCxnSpPr>
        <p:spPr>
          <a:xfrm flipV="1">
            <a:off x="2511972" y="1166648"/>
            <a:ext cx="7262649" cy="425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BFAFCF75-5BA8-1458-78DC-BB8838B6F83C}"/>
              </a:ext>
            </a:extLst>
          </p:cNvPr>
          <p:cNvCxnSpPr>
            <a:cxnSpLocks/>
          </p:cNvCxnSpPr>
          <p:nvPr/>
        </p:nvCxnSpPr>
        <p:spPr>
          <a:xfrm flipV="1">
            <a:off x="1644869" y="1734207"/>
            <a:ext cx="4230414" cy="436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20B7094-171F-85D5-D80E-E00E3CD6EB2F}"/>
              </a:ext>
            </a:extLst>
          </p:cNvPr>
          <p:cNvCxnSpPr>
            <a:cxnSpLocks/>
          </p:cNvCxnSpPr>
          <p:nvPr/>
        </p:nvCxnSpPr>
        <p:spPr>
          <a:xfrm flipV="1">
            <a:off x="1644869" y="1660634"/>
            <a:ext cx="3515710" cy="1056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BDD8F300-8098-1F20-40FF-5F1EE273ABD7}"/>
              </a:ext>
            </a:extLst>
          </p:cNvPr>
          <p:cNvCxnSpPr>
            <a:cxnSpLocks/>
          </p:cNvCxnSpPr>
          <p:nvPr/>
        </p:nvCxnSpPr>
        <p:spPr>
          <a:xfrm flipV="1">
            <a:off x="3629634" y="3142593"/>
            <a:ext cx="3081221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49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88EF0-A4A4-BF5D-EF02-F20439900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580EB6CB-B594-8CA9-78AC-62A64DFA33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CC91A8C-D9B2-DCBA-6863-185508D74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69" y="1428751"/>
            <a:ext cx="3744058" cy="521411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DF1C3C7-C46F-5A3D-6C87-0A9298D7F740}"/>
              </a:ext>
            </a:extLst>
          </p:cNvPr>
          <p:cNvSpPr txBox="1"/>
          <p:nvPr/>
        </p:nvSpPr>
        <p:spPr>
          <a:xfrm>
            <a:off x="3407445" y="510888"/>
            <a:ext cx="55143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dirty="0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Pagina di aggiunta annuncio</a:t>
            </a:r>
          </a:p>
        </p:txBody>
      </p:sp>
    </p:spTree>
    <p:extLst>
      <p:ext uri="{BB962C8B-B14F-4D97-AF65-F5344CB8AC3E}">
        <p14:creationId xmlns:p14="http://schemas.microsoft.com/office/powerpoint/2010/main" val="1524699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E178-B1B9-8000-0A5C-DD7AEF71B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BBDC9B0E-7773-7A71-0BE5-CD3BBF0A00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72C49A9-FF6A-5016-DAD6-51C4E1FD2E65}"/>
              </a:ext>
            </a:extLst>
          </p:cNvPr>
          <p:cNvSpPr txBox="1"/>
          <p:nvPr/>
        </p:nvSpPr>
        <p:spPr>
          <a:xfrm>
            <a:off x="431800" y="1256930"/>
            <a:ext cx="412114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La Posizione di Google Maps è inseribile muovendo un marker su una mappa messa a disposizione dalla </a:t>
            </a:r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  <a:latin typeface="Amasis MT Pro Medium" panose="020F0502020204030204" pitchFamily="18" charset="0"/>
              </a:rPr>
              <a:t>Geocoding API </a:t>
            </a:r>
            <a:r>
              <a:rPr lang="it-IT" dirty="0">
                <a:solidFill>
                  <a:srgbClr val="C1E5F5"/>
                </a:solidFill>
                <a:latin typeface="Amasis MT Pro Medium" panose="020F0502020204030204" pitchFamily="18" charset="0"/>
              </a:rPr>
              <a:t>di Google Maps.</a:t>
            </a:r>
          </a:p>
          <a:p>
            <a:r>
              <a:rPr lang="it-IT" dirty="0">
                <a:solidFill>
                  <a:srgbClr val="C1E5F5"/>
                </a:solidFill>
                <a:latin typeface="Amasis MT Pro Medium" panose="020F0502020204030204" pitchFamily="18" charset="0"/>
              </a:rPr>
              <a:t>Mentre la api </a:t>
            </a:r>
            <a:r>
              <a:rPr lang="it-IT" dirty="0" err="1">
                <a:solidFill>
                  <a:srgbClr val="163E64"/>
                </a:solidFill>
                <a:latin typeface="Amasis MT Pro Medium" panose="020F0502020204030204" pitchFamily="18" charset="0"/>
              </a:rPr>
              <a:t>Nominatim</a:t>
            </a:r>
            <a:r>
              <a:rPr lang="it-IT" dirty="0">
                <a:solidFill>
                  <a:srgbClr val="C1E5F5"/>
                </a:solidFill>
                <a:latin typeface="Amasis MT Pro Medium" panose="020F0502020204030204" pitchFamily="18" charset="0"/>
              </a:rPr>
              <a:t> di </a:t>
            </a:r>
            <a:r>
              <a:rPr lang="it-IT" dirty="0" err="1">
                <a:solidFill>
                  <a:srgbClr val="C1E5F5"/>
                </a:solidFill>
                <a:latin typeface="Amasis MT Pro Medium" panose="020F0502020204030204" pitchFamily="18" charset="0"/>
              </a:rPr>
              <a:t>OpenStreetMap</a:t>
            </a:r>
            <a:r>
              <a:rPr lang="it-IT" dirty="0">
                <a:solidFill>
                  <a:srgbClr val="C1E5F5"/>
                </a:solidFill>
                <a:latin typeface="Amasis MT Pro Medium" panose="020F0502020204030204" pitchFamily="18" charset="0"/>
              </a:rPr>
              <a:t> consente di trasformare le coordinate in un indirizzo, che servirà al venditore per fare la spedizione</a:t>
            </a:r>
          </a:p>
          <a:p>
            <a:endParaRPr lang="it-IT" dirty="0">
              <a:solidFill>
                <a:srgbClr val="C1E5F5"/>
              </a:solidFill>
              <a:latin typeface="Amasis MT Pro Medium" panose="020F0502020204030204" pitchFamily="18" charset="0"/>
            </a:endParaRPr>
          </a:p>
          <a:p>
            <a:endParaRPr lang="it-IT" dirty="0">
              <a:solidFill>
                <a:schemeClr val="tx2">
                  <a:lumMod val="90000"/>
                  <a:lumOff val="10000"/>
                </a:schemeClr>
              </a:solidFill>
              <a:latin typeface="Amasis MT Pro Medium" panose="020F0502020204030204" pitchFamily="18" charset="0"/>
            </a:endParaRPr>
          </a:p>
          <a:p>
            <a:endParaRPr lang="it-IT" dirty="0">
              <a:solidFill>
                <a:schemeClr val="tx2">
                  <a:lumMod val="90000"/>
                  <a:lumOff val="10000"/>
                </a:schemeClr>
              </a:solidFill>
              <a:latin typeface="Amasis MT Pro Medium" panose="020F0502020204030204" pitchFamily="18" charset="0"/>
            </a:endParaRPr>
          </a:p>
          <a:p>
            <a:endParaRPr lang="it-IT" dirty="0">
              <a:solidFill>
                <a:schemeClr val="tx2">
                  <a:lumMod val="90000"/>
                  <a:lumOff val="10000"/>
                </a:schemeClr>
              </a:solidFill>
              <a:latin typeface="Amasis MT Pro Medium" panose="020F0502020204030204" pitchFamily="18" charset="0"/>
            </a:endParaRPr>
          </a:p>
          <a:p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Le foto sono salvate su </a:t>
            </a:r>
            <a:r>
              <a:rPr lang="it-IT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Postgres</a:t>
            </a: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 in una tabella a parte (</a:t>
            </a:r>
            <a:r>
              <a:rPr lang="it-IT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foto_annuncio</a:t>
            </a:r>
            <a:r>
              <a:rPr lang="it-IT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) in formato Base64 in un campo di tipo BYTEA, ed è collegata alla tabella Annuncio con una </a:t>
            </a:r>
            <a:r>
              <a:rPr lang="it-IT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relazione diretta</a:t>
            </a:r>
            <a:endParaRPr lang="it-IT" b="1" dirty="0">
              <a:solidFill>
                <a:schemeClr val="tx2">
                  <a:lumMod val="90000"/>
                  <a:lumOff val="10000"/>
                </a:schemeClr>
              </a:solidFill>
              <a:latin typeface="Amasis MT Pro Medium" panose="020F0502020204030204" pitchFamily="18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C52B844-E29E-43E3-1B3B-EDA72FE6C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510" y="5062444"/>
            <a:ext cx="2776379" cy="1078822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695D8A1E-2DB2-FFEF-CADD-81A0BCFD9C00}"/>
              </a:ext>
            </a:extLst>
          </p:cNvPr>
          <p:cNvSpPr txBox="1"/>
          <p:nvPr/>
        </p:nvSpPr>
        <p:spPr>
          <a:xfrm>
            <a:off x="431800" y="457174"/>
            <a:ext cx="2104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Dal lato venditori: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9DB2FFE-481F-60C5-5057-35318EDD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2510" y="964904"/>
            <a:ext cx="4840069" cy="328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82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347F-8EE7-D78D-A849-3AA59E38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0D3BD0B2-51BC-9C39-62FA-2119410D5D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B7457C3-7F9E-854E-BCF4-1B363435E20E}"/>
              </a:ext>
            </a:extLst>
          </p:cNvPr>
          <p:cNvSpPr txBox="1"/>
          <p:nvPr/>
        </p:nvSpPr>
        <p:spPr>
          <a:xfrm>
            <a:off x="460814" y="710667"/>
            <a:ext cx="71696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Dal lato venditori:</a:t>
            </a:r>
          </a:p>
          <a:p>
            <a:endParaRPr lang="it-IT" dirty="0">
              <a:solidFill>
                <a:schemeClr val="accent1">
                  <a:lumMod val="75000"/>
                </a:schemeClr>
              </a:solidFill>
              <a:latin typeface="Amasis MT Pro Medium" panose="020F0502020204030204" pitchFamily="18" charset="0"/>
            </a:endParaRPr>
          </a:p>
          <a:p>
            <a:r>
              <a:rPr lang="it-IT" dirty="0">
                <a:solidFill>
                  <a:schemeClr val="accent4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È possibile anche dare visibilità ai propri annunci pubblicizzandoli su un social, e per questo progetto abbiamo scelto Mastodon</a:t>
            </a:r>
          </a:p>
          <a:p>
            <a:r>
              <a:rPr lang="it-IT" dirty="0">
                <a:solidFill>
                  <a:schemeClr val="accent4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Un social che fornisce una API developer-friendly (</a:t>
            </a:r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  <a:latin typeface="Amasis MT Pro Medium" panose="020F0502020204030204" pitchFamily="18" charset="0"/>
              </a:rPr>
              <a:t>Mastodon API</a:t>
            </a:r>
            <a:r>
              <a:rPr lang="it-IT" dirty="0">
                <a:solidFill>
                  <a:schemeClr val="accent4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)</a:t>
            </a:r>
          </a:p>
          <a:p>
            <a:r>
              <a:rPr lang="it-IT" dirty="0">
                <a:solidFill>
                  <a:schemeClr val="accent4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che porterà alla pagina di login del social, e se l’accesso va a buon fine verrà postato l’annuncio sul proprio profilo automaticamente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80E7B01-6B6F-E159-8F14-ADBB8A30E995}"/>
              </a:ext>
            </a:extLst>
          </p:cNvPr>
          <p:cNvSpPr txBox="1"/>
          <p:nvPr/>
        </p:nvSpPr>
        <p:spPr>
          <a:xfrm>
            <a:off x="460814" y="3106853"/>
            <a:ext cx="61785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>
              <a:solidFill>
                <a:schemeClr val="accent4">
                  <a:lumMod val="20000"/>
                  <a:lumOff val="80000"/>
                </a:schemeClr>
              </a:solidFill>
              <a:latin typeface="Amasis MT Pro Medium" panose="020F0502020204030204" pitchFamily="18" charset="0"/>
            </a:endParaRPr>
          </a:p>
          <a:p>
            <a:endParaRPr lang="it-IT" dirty="0">
              <a:solidFill>
                <a:schemeClr val="accent4">
                  <a:lumMod val="20000"/>
                  <a:lumOff val="80000"/>
                </a:schemeClr>
              </a:solidFill>
              <a:latin typeface="Amasis MT Pro Medium" panose="020F0502020204030204" pitchFamily="18" charset="0"/>
            </a:endParaRPr>
          </a:p>
          <a:p>
            <a:r>
              <a:rPr lang="it-IT" dirty="0">
                <a:solidFill>
                  <a:schemeClr val="accent4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Grafico dei prezzi</a:t>
            </a:r>
          </a:p>
          <a:p>
            <a:endParaRPr lang="it-IT" dirty="0">
              <a:solidFill>
                <a:schemeClr val="accent4">
                  <a:lumMod val="20000"/>
                  <a:lumOff val="80000"/>
                </a:schemeClr>
              </a:solidFill>
              <a:latin typeface="Amasis MT Pro Medium" panose="020F0502020204030204" pitchFamily="18" charset="0"/>
            </a:endParaRPr>
          </a:p>
          <a:p>
            <a:endParaRPr lang="it-IT" dirty="0">
              <a:solidFill>
                <a:schemeClr val="accent4">
                  <a:lumMod val="20000"/>
                  <a:lumOff val="80000"/>
                </a:schemeClr>
              </a:solidFill>
              <a:latin typeface="Amasis MT Pro Medium" panose="020F0502020204030204" pitchFamily="18" charset="0"/>
            </a:endParaRPr>
          </a:p>
          <a:p>
            <a:endParaRPr lang="it-IT" dirty="0">
              <a:solidFill>
                <a:schemeClr val="accent4">
                  <a:lumMod val="20000"/>
                  <a:lumOff val="80000"/>
                </a:schemeClr>
              </a:solidFill>
              <a:latin typeface="Amasis MT Pro Medium" panose="020F0502020204030204" pitchFamily="18" charset="0"/>
            </a:endParaRPr>
          </a:p>
          <a:p>
            <a:endParaRPr lang="it-IT" dirty="0">
              <a:solidFill>
                <a:schemeClr val="accent4">
                  <a:lumMod val="20000"/>
                  <a:lumOff val="80000"/>
                </a:schemeClr>
              </a:solidFill>
              <a:latin typeface="Amasis MT Pro Medium" panose="020F0502020204030204" pitchFamily="18" charset="0"/>
            </a:endParaRPr>
          </a:p>
          <a:p>
            <a:endParaRPr lang="it-IT" dirty="0">
              <a:solidFill>
                <a:schemeClr val="accent4">
                  <a:lumMod val="20000"/>
                  <a:lumOff val="80000"/>
                </a:schemeClr>
              </a:solidFill>
              <a:latin typeface="Amasis MT Pro Medium" panose="020F0502020204030204" pitchFamily="18" charset="0"/>
            </a:endParaRPr>
          </a:p>
          <a:p>
            <a:endParaRPr lang="it-IT" dirty="0">
              <a:solidFill>
                <a:schemeClr val="accent4">
                  <a:lumMod val="20000"/>
                  <a:lumOff val="80000"/>
                </a:schemeClr>
              </a:solidFill>
              <a:latin typeface="Amasis MT Pro Medium" panose="020F0502020204030204" pitchFamily="18" charset="0"/>
            </a:endParaRPr>
          </a:p>
          <a:p>
            <a:r>
              <a:rPr lang="it-IT" dirty="0">
                <a:solidFill>
                  <a:schemeClr val="accent4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Chatbot raccomandazioni:</a:t>
            </a:r>
          </a:p>
          <a:p>
            <a:r>
              <a:rPr lang="it-IT" dirty="0">
                <a:solidFill>
                  <a:schemeClr val="accent4">
                    <a:lumMod val="20000"/>
                    <a:lumOff val="80000"/>
                  </a:schemeClr>
                </a:solidFill>
                <a:latin typeface="Amasis MT Pro Medium" panose="020F0502020204030204" pitchFamily="18" charset="0"/>
              </a:rPr>
              <a:t>Tramite delle scelte impostate il chatbot da dei consigli sulle vendite seguendo un albero decisionale 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D252BFC-393A-08AB-81F7-68C8A1F33F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265" t="13260" r="55817" b="22429"/>
          <a:stretch>
            <a:fillRect/>
          </a:stretch>
        </p:blipFill>
        <p:spPr>
          <a:xfrm>
            <a:off x="7943597" y="348840"/>
            <a:ext cx="1541444" cy="2758013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57467B9F-AADA-07EF-3F51-22F8CF4699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033" y="3292419"/>
            <a:ext cx="4791298" cy="2109529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5EC4D431-31B2-232B-3476-14A2546FF088}"/>
              </a:ext>
            </a:extLst>
          </p:cNvPr>
          <p:cNvSpPr/>
          <p:nvPr/>
        </p:nvSpPr>
        <p:spPr>
          <a:xfrm>
            <a:off x="7772395" y="2496341"/>
            <a:ext cx="1148569" cy="6105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14CEAAC9-FA14-A6BD-C45C-AD6E0BD68EE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4" r="-273"/>
          <a:stretch>
            <a:fillRect/>
          </a:stretch>
        </p:blipFill>
        <p:spPr>
          <a:xfrm>
            <a:off x="9721018" y="348840"/>
            <a:ext cx="2017298" cy="2758012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6272FFF0-62FB-AB41-5C07-D4BD44148C1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40" t="4740"/>
          <a:stretch>
            <a:fillRect/>
          </a:stretch>
        </p:blipFill>
        <p:spPr>
          <a:xfrm>
            <a:off x="8576045" y="5587514"/>
            <a:ext cx="2289945" cy="11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6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32F46-87CA-8FA8-CF83-449059A1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D8B7260F-8952-0ACD-CF37-AF441CABD9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BB11E60-5FB0-1E3A-4A2D-AA0CE3A734B8}"/>
              </a:ext>
            </a:extLst>
          </p:cNvPr>
          <p:cNvSpPr txBox="1"/>
          <p:nvPr/>
        </p:nvSpPr>
        <p:spPr>
          <a:xfrm>
            <a:off x="4448845" y="815246"/>
            <a:ext cx="5262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Il sito è responsive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2B855BF-3BE5-770D-801D-C06BEEA1C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2338263"/>
            <a:ext cx="4255359" cy="247638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84C6D75-A78B-4088-4C52-E2DE43C3C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649" y="2338263"/>
            <a:ext cx="3677416" cy="334128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641FEEB-4922-154E-80D6-580DFA425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610" y="2338263"/>
            <a:ext cx="2907042" cy="422732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C31F49B-3E61-87C9-5139-896277BF736B}"/>
              </a:ext>
            </a:extLst>
          </p:cNvPr>
          <p:cNvSpPr txBox="1"/>
          <p:nvPr/>
        </p:nvSpPr>
        <p:spPr>
          <a:xfrm>
            <a:off x="5972782" y="1968931"/>
            <a:ext cx="13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1E5F5"/>
                </a:solidFill>
              </a:rPr>
              <a:t>1939x1762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EBE0DD3-FA56-270A-27E8-191CF4F3B2F6}"/>
              </a:ext>
            </a:extLst>
          </p:cNvPr>
          <p:cNvSpPr txBox="1"/>
          <p:nvPr/>
        </p:nvSpPr>
        <p:spPr>
          <a:xfrm>
            <a:off x="1678948" y="1968931"/>
            <a:ext cx="1401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1E5F5"/>
                </a:solidFill>
              </a:rPr>
              <a:t>3810x2217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99AD249-931A-1710-D34C-C7870A93D3EF}"/>
              </a:ext>
            </a:extLst>
          </p:cNvPr>
          <p:cNvSpPr txBox="1"/>
          <p:nvPr/>
        </p:nvSpPr>
        <p:spPr>
          <a:xfrm>
            <a:off x="9581634" y="1968931"/>
            <a:ext cx="1390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C1E5F5"/>
                </a:solidFill>
              </a:rPr>
              <a:t>1270x1847</a:t>
            </a:r>
          </a:p>
        </p:txBody>
      </p:sp>
    </p:spTree>
    <p:extLst>
      <p:ext uri="{BB962C8B-B14F-4D97-AF65-F5344CB8AC3E}">
        <p14:creationId xmlns:p14="http://schemas.microsoft.com/office/powerpoint/2010/main" val="623964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7026C-EDE7-8823-8B12-AA4C7BF8B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E04EB5C0-647B-1463-0008-C8ADBAB3FA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BA74827-E80F-EBE7-1EBC-8A2443E72D6A}"/>
              </a:ext>
            </a:extLst>
          </p:cNvPr>
          <p:cNvSpPr txBox="1"/>
          <p:nvPr/>
        </p:nvSpPr>
        <p:spPr>
          <a:xfrm>
            <a:off x="3660700" y="448164"/>
            <a:ext cx="4870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dirty="0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Amministrazione🔒</a:t>
            </a:r>
            <a:endParaRPr lang="it-IT" sz="4000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92AFA62-A27F-1680-067D-04D757D1225C}"/>
              </a:ext>
            </a:extLst>
          </p:cNvPr>
          <p:cNvSpPr txBox="1"/>
          <p:nvPr/>
        </p:nvSpPr>
        <p:spPr>
          <a:xfrm>
            <a:off x="3149601" y="1475563"/>
            <a:ext cx="53466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dirty="0">
                <a:solidFill>
                  <a:schemeClr val="bg1"/>
                </a:solidFill>
                <a:latin typeface="Amasis MT Pro" panose="020F0502020204030204" pitchFamily="18" charset="0"/>
              </a:rPr>
              <a:t>Esiste il ruolo di </a:t>
            </a:r>
            <a:r>
              <a:rPr lang="it-IT" sz="3200" dirty="0">
                <a:solidFill>
                  <a:schemeClr val="tx2">
                    <a:lumMod val="90000"/>
                    <a:lumOff val="10000"/>
                  </a:schemeClr>
                </a:solidFill>
                <a:latin typeface="Amasis MT Pro" panose="020F0502020204030204" pitchFamily="18" charset="0"/>
              </a:rPr>
              <a:t>Amministratore</a:t>
            </a:r>
            <a:r>
              <a:rPr lang="it-IT" sz="3200" dirty="0">
                <a:solidFill>
                  <a:schemeClr val="bg1"/>
                </a:solidFill>
                <a:latin typeface="Amasis MT Pro" panose="020F0502020204030204" pitchFamily="18" charset="0"/>
              </a:rPr>
              <a:t>.</a:t>
            </a:r>
          </a:p>
          <a:p>
            <a:pPr algn="ctr"/>
            <a:r>
              <a:rPr lang="it-IT" sz="3200" dirty="0">
                <a:solidFill>
                  <a:schemeClr val="bg1"/>
                </a:solidFill>
                <a:latin typeface="Amasis MT Pro" panose="020F0502020204030204" pitchFamily="18" charset="0"/>
              </a:rPr>
              <a:t>Chi lo possiede ha accesso a tutte le API, quindi può modificare tutti gli annunci senza esserne proprietario, e in più può bannare utenti e dare il ruolo di Amministratore ad altri</a:t>
            </a:r>
          </a:p>
        </p:txBody>
      </p:sp>
    </p:spTree>
    <p:extLst>
      <p:ext uri="{BB962C8B-B14F-4D97-AF65-F5344CB8AC3E}">
        <p14:creationId xmlns:p14="http://schemas.microsoft.com/office/powerpoint/2010/main" val="2901592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17195-597F-1FEC-7318-2A3EC220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1F8A372A-91BD-CA87-0502-500293F341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700F134-0918-3583-1BB0-27111DE4421F}"/>
              </a:ext>
            </a:extLst>
          </p:cNvPr>
          <p:cNvSpPr txBox="1"/>
          <p:nvPr/>
        </p:nvSpPr>
        <p:spPr>
          <a:xfrm>
            <a:off x="2508250" y="572462"/>
            <a:ext cx="7689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Comunicazione Database-</a:t>
            </a:r>
            <a:r>
              <a:rPr lang="it-IT" sz="2800" dirty="0" err="1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Backend</a:t>
            </a:r>
            <a:r>
              <a:rPr lang="it-IT" sz="2800" dirty="0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-</a:t>
            </a:r>
            <a:r>
              <a:rPr lang="it-IT" sz="2800" dirty="0" err="1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Frontend</a:t>
            </a:r>
            <a:endParaRPr lang="it-IT" sz="2800" dirty="0">
              <a:solidFill>
                <a:schemeClr val="accent1">
                  <a:lumMod val="75000"/>
                </a:schemeClr>
              </a:solidFill>
              <a:latin typeface="Amasis MT Pro Medium" panose="020F0502020204030204" pitchFamily="18" charset="0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591033A-9C33-41D8-8487-B16CA144B4D7}"/>
              </a:ext>
            </a:extLst>
          </p:cNvPr>
          <p:cNvSpPr/>
          <p:nvPr/>
        </p:nvSpPr>
        <p:spPr>
          <a:xfrm>
            <a:off x="7827962" y="2875791"/>
            <a:ext cx="1714500" cy="1276350"/>
          </a:xfrm>
          <a:prstGeom prst="rect">
            <a:avLst/>
          </a:prstGeom>
          <a:solidFill>
            <a:srgbClr val="437AB3"/>
          </a:solidFill>
          <a:ln w="38100">
            <a:solidFill>
              <a:srgbClr val="3B7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API</a:t>
            </a:r>
          </a:p>
          <a:p>
            <a:pPr algn="ctr"/>
            <a:r>
              <a:rPr lang="it-IT" dirty="0" err="1"/>
              <a:t>Rest</a:t>
            </a:r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BDF7A3-1412-976A-7972-0A96DFF07256}"/>
              </a:ext>
            </a:extLst>
          </p:cNvPr>
          <p:cNvSpPr/>
          <p:nvPr/>
        </p:nvSpPr>
        <p:spPr>
          <a:xfrm>
            <a:off x="2768600" y="2875791"/>
            <a:ext cx="2171700" cy="1276350"/>
          </a:xfrm>
          <a:prstGeom prst="rect">
            <a:avLst/>
          </a:prstGeom>
          <a:solidFill>
            <a:srgbClr val="437AB3"/>
          </a:solidFill>
          <a:ln w="38100">
            <a:solidFill>
              <a:srgbClr val="3B7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DataCachingProxy</a:t>
            </a:r>
            <a:endParaRPr lang="it-IT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B65BA0C-47D0-4E1B-043F-CDFE1A76C894}"/>
              </a:ext>
            </a:extLst>
          </p:cNvPr>
          <p:cNvSpPr/>
          <p:nvPr/>
        </p:nvSpPr>
        <p:spPr>
          <a:xfrm>
            <a:off x="5495925" y="2875791"/>
            <a:ext cx="1714500" cy="1276350"/>
          </a:xfrm>
          <a:prstGeom prst="rect">
            <a:avLst/>
          </a:prstGeom>
          <a:solidFill>
            <a:srgbClr val="437AB3"/>
          </a:solidFill>
          <a:ln w="38100">
            <a:solidFill>
              <a:srgbClr val="3B7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DataDao</a:t>
            </a:r>
            <a:endParaRPr lang="it-IT" dirty="0"/>
          </a:p>
        </p:txBody>
      </p:sp>
      <p:pic>
        <p:nvPicPr>
          <p:cNvPr id="1026" name="Picture 2" descr="Database - Free seo and web icons">
            <a:extLst>
              <a:ext uri="{FF2B5EF4-FFF2-40B4-BE49-F238E27FC236}">
                <a16:creationId xmlns:a16="http://schemas.microsoft.com/office/drawing/2014/main" id="{1551438A-EDDD-D828-C0D2-08149950D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2730500"/>
            <a:ext cx="127635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5967973-5113-A2A0-F917-4E370BDF047C}"/>
              </a:ext>
            </a:extLst>
          </p:cNvPr>
          <p:cNvSpPr txBox="1"/>
          <p:nvPr/>
        </p:nvSpPr>
        <p:spPr>
          <a:xfrm>
            <a:off x="819150" y="4089400"/>
            <a:ext cx="127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Database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B3F04ABC-AA84-71AA-3ED2-9B8D7745B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4756" y="2824956"/>
            <a:ext cx="1378744" cy="1378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B912899-703F-F059-AEE2-CD01F544BF26}"/>
              </a:ext>
            </a:extLst>
          </p:cNvPr>
          <p:cNvSpPr txBox="1"/>
          <p:nvPr/>
        </p:nvSpPr>
        <p:spPr>
          <a:xfrm>
            <a:off x="10318751" y="4089400"/>
            <a:ext cx="117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solidFill>
                  <a:schemeClr val="bg1"/>
                </a:solidFill>
              </a:rPr>
              <a:t>Frontend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9D0B88E-35BB-A4C4-C3E6-9260D57C3466}"/>
              </a:ext>
            </a:extLst>
          </p:cNvPr>
          <p:cNvSpPr txBox="1"/>
          <p:nvPr/>
        </p:nvSpPr>
        <p:spPr>
          <a:xfrm>
            <a:off x="1457325" y="5008086"/>
            <a:ext cx="48005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masis MT Pro Medium" panose="02040604050005020304" pitchFamily="18" charset="0"/>
              </a:rPr>
              <a:t>Questo proxy fa da intermediario tra il database e il </a:t>
            </a:r>
            <a:r>
              <a:rPr lang="it-IT" dirty="0" err="1">
                <a:solidFill>
                  <a:schemeClr val="bg1"/>
                </a:solidFill>
                <a:latin typeface="Amasis MT Pro Medium" panose="02040604050005020304" pitchFamily="18" charset="0"/>
              </a:rPr>
              <a:t>backend</a:t>
            </a:r>
            <a:r>
              <a:rPr lang="it-IT" dirty="0">
                <a:solidFill>
                  <a:schemeClr val="bg1"/>
                </a:solidFill>
                <a:latin typeface="Amasis MT Pro Medium" panose="02040604050005020304" pitchFamily="18" charset="0"/>
              </a:rPr>
              <a:t>.</a:t>
            </a:r>
          </a:p>
          <a:p>
            <a:pPr algn="ctr"/>
            <a:r>
              <a:rPr lang="it-IT" dirty="0">
                <a:solidFill>
                  <a:schemeClr val="bg1"/>
                </a:solidFill>
                <a:latin typeface="Amasis MT Pro Medium" panose="02040604050005020304" pitchFamily="18" charset="0"/>
              </a:rPr>
              <a:t>Alla prima chiamata salva i dati del database in cache davanti a </a:t>
            </a:r>
            <a:r>
              <a:rPr lang="it-IT" dirty="0" err="1">
                <a:solidFill>
                  <a:schemeClr val="bg1"/>
                </a:solidFill>
                <a:latin typeface="Amasis MT Pro Medium" panose="02040604050005020304" pitchFamily="18" charset="0"/>
              </a:rPr>
              <a:t>DataDao</a:t>
            </a:r>
            <a:r>
              <a:rPr lang="it-IT" dirty="0">
                <a:solidFill>
                  <a:schemeClr val="bg1"/>
                </a:solidFill>
                <a:latin typeface="Amasis MT Pro Medium" panose="02040604050005020304" pitchFamily="18" charset="0"/>
              </a:rPr>
              <a:t>, in modo che non debba sempre interrogare il database.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DDB9908D-BCE4-9F40-0D8A-5AE6270FADB3}"/>
              </a:ext>
            </a:extLst>
          </p:cNvPr>
          <p:cNvCxnSpPr>
            <a:cxnSpLocks/>
            <a:stCxn id="27" idx="0"/>
            <a:endCxn id="8" idx="2"/>
          </p:cNvCxnSpPr>
          <p:nvPr/>
        </p:nvCxnSpPr>
        <p:spPr>
          <a:xfrm flipH="1" flipV="1">
            <a:off x="3854450" y="4152141"/>
            <a:ext cx="3175" cy="855945"/>
          </a:xfrm>
          <a:prstGeom prst="straightConnector1">
            <a:avLst/>
          </a:prstGeom>
          <a:ln w="57150">
            <a:solidFill>
              <a:srgbClr val="3B72A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510588E4-9239-5D43-7517-3F5DA22074AD}"/>
              </a:ext>
            </a:extLst>
          </p:cNvPr>
          <p:cNvSpPr/>
          <p:nvPr/>
        </p:nvSpPr>
        <p:spPr>
          <a:xfrm>
            <a:off x="2387600" y="2413000"/>
            <a:ext cx="7505700" cy="2095500"/>
          </a:xfrm>
          <a:prstGeom prst="roundRect">
            <a:avLst/>
          </a:prstGeom>
          <a:noFill/>
          <a:ln w="38100">
            <a:solidFill>
              <a:srgbClr val="3A7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D454FB5C-CC0D-038F-A8F5-F1FAF98F32EC}"/>
              </a:ext>
            </a:extLst>
          </p:cNvPr>
          <p:cNvSpPr txBox="1"/>
          <p:nvPr/>
        </p:nvSpPr>
        <p:spPr>
          <a:xfrm>
            <a:off x="3749674" y="1938268"/>
            <a:ext cx="45275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dirty="0" err="1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Backend</a:t>
            </a:r>
            <a:endParaRPr lang="it-IT" dirty="0">
              <a:solidFill>
                <a:schemeClr val="accent1">
                  <a:lumMod val="75000"/>
                </a:schemeClr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132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6ECA-7409-3084-7BDD-BF2F95E05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3FB8BBB5-455D-F9F0-DAD4-5C5FA462C3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F41DFE5-18CF-F95C-5385-819931637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682" y="2322507"/>
            <a:ext cx="1304935" cy="1323985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B7835745-270B-2D4B-E376-7A459F96BF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4848" b="79803"/>
          <a:stretch>
            <a:fillRect/>
          </a:stretch>
        </p:blipFill>
        <p:spPr>
          <a:xfrm>
            <a:off x="7678734" y="4267502"/>
            <a:ext cx="1800238" cy="740269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6ACB4C91-BA9F-A048-6A9E-AAC9D908E4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9" t="22482"/>
          <a:stretch>
            <a:fillRect/>
          </a:stretch>
        </p:blipFill>
        <p:spPr>
          <a:xfrm>
            <a:off x="3087682" y="3822694"/>
            <a:ext cx="2289183" cy="2370154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BF00F3C9-F638-1E99-09D4-BBD175E802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346" y="3062628"/>
            <a:ext cx="609604" cy="581029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92CD7528-0B15-400A-1191-E49A2992B3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1493" y="4013991"/>
            <a:ext cx="1743088" cy="704855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B0CDAA1A-06DA-3200-9D9A-958E27445E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1018" y="4868863"/>
            <a:ext cx="1733563" cy="1323985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B9E7226D-BC11-3B8A-5E53-6E1FE6A869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8734" y="5145090"/>
            <a:ext cx="1800238" cy="1047758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7A9F225E-A163-3B21-45F1-896FCCFAB3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80074" y="3105144"/>
            <a:ext cx="1533536" cy="733430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B8CA7808-FAD8-8A81-6CC2-EF75CA16D3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8734" y="3168650"/>
            <a:ext cx="1812839" cy="952509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B5431B0-ECBD-7046-2B10-1FBC505FCDC5}"/>
              </a:ext>
            </a:extLst>
          </p:cNvPr>
          <p:cNvSpPr txBox="1"/>
          <p:nvPr/>
        </p:nvSpPr>
        <p:spPr>
          <a:xfrm>
            <a:off x="4035423" y="657139"/>
            <a:ext cx="49752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dirty="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Resoconto entità nel database </a:t>
            </a:r>
            <a:r>
              <a:rPr lang="it-IT" sz="2400" dirty="0" err="1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Postgres</a:t>
            </a:r>
            <a:r>
              <a:rPr lang="it-IT" sz="2400" dirty="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 su cui sono state fatte 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relazioni dirette e</a:t>
            </a:r>
            <a:r>
              <a:rPr lang="it-IT" sz="2400" dirty="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 </a:t>
            </a: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relazioni di join</a:t>
            </a:r>
            <a:r>
              <a:rPr lang="it-IT" sz="2400" dirty="0">
                <a:solidFill>
                  <a:schemeClr val="accent1">
                    <a:lumMod val="75000"/>
                  </a:schemeClr>
                </a:solidFill>
                <a:latin typeface="Amasis MT Pro Medium" panose="02040604050005020304" pitchFamily="18" charset="0"/>
              </a:rPr>
              <a:t>:</a:t>
            </a:r>
            <a:endParaRPr lang="it-IT" sz="2400" b="1" dirty="0">
              <a:solidFill>
                <a:schemeClr val="bg1"/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971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5785-15B6-8B4B-4B3E-8FC5AD4D8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blu, schermata, Blu elettrico, sfocatura&#10;&#10;Il contenuto generato dall'IA potrebbe non essere corretto.">
            <a:extLst>
              <a:ext uri="{FF2B5EF4-FFF2-40B4-BE49-F238E27FC236}">
                <a16:creationId xmlns:a16="http://schemas.microsoft.com/office/drawing/2014/main" id="{FC0FB106-8525-5AF4-CEEE-F2F4870EE3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59E2F6F-138F-A002-AE39-590FA522D1F6}"/>
              </a:ext>
            </a:extLst>
          </p:cNvPr>
          <p:cNvSpPr txBox="1"/>
          <p:nvPr/>
        </p:nvSpPr>
        <p:spPr>
          <a:xfrm>
            <a:off x="514350" y="580003"/>
            <a:ext cx="2381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dirty="0">
                <a:solidFill>
                  <a:schemeClr val="accent1">
                    <a:lumMod val="75000"/>
                  </a:schemeClr>
                </a:solidFill>
                <a:latin typeface="Amasis MT Pro Medium" panose="020F0502020204030204" pitchFamily="18" charset="0"/>
              </a:rPr>
              <a:t>Checklist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ABF0D6A-40CB-8400-F1AF-9FCCE08A4315}"/>
              </a:ext>
            </a:extLst>
          </p:cNvPr>
          <p:cNvSpPr txBox="1"/>
          <p:nvPr/>
        </p:nvSpPr>
        <p:spPr>
          <a:xfrm>
            <a:off x="514350" y="1953736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it-IT" sz="2800" dirty="0">
                <a:solidFill>
                  <a:schemeClr val="bg1"/>
                </a:solidFill>
                <a:latin typeface="Amasis MT Pro Medium" panose="02040604050005020304" pitchFamily="18" charset="0"/>
              </a:rPr>
              <a:t>Tutte le richieste della traccia sono soddisfatte</a:t>
            </a:r>
          </a:p>
          <a:p>
            <a:pPr marL="342900" indent="-342900"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it-IT" sz="2800" dirty="0">
                <a:solidFill>
                  <a:schemeClr val="bg1"/>
                </a:solidFill>
                <a:latin typeface="Amasis MT Pro Medium" panose="02040604050005020304" pitchFamily="18" charset="0"/>
              </a:rPr>
              <a:t>Sito responsive</a:t>
            </a:r>
          </a:p>
          <a:p>
            <a:pPr marL="342900" indent="-342900"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it-IT" sz="2800" dirty="0">
                <a:solidFill>
                  <a:schemeClr val="bg1"/>
                </a:solidFill>
                <a:latin typeface="Amasis MT Pro Medium" panose="02040604050005020304" pitchFamily="18" charset="0"/>
              </a:rPr>
              <a:t>Giuste tecnologie</a:t>
            </a:r>
          </a:p>
          <a:p>
            <a:pPr marL="342900" indent="-342900"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it-IT" sz="2800" dirty="0">
                <a:solidFill>
                  <a:schemeClr val="bg1"/>
                </a:solidFill>
                <a:latin typeface="Amasis MT Pro Medium" panose="02040604050005020304" pitchFamily="18" charset="0"/>
              </a:rPr>
              <a:t>Proxy</a:t>
            </a:r>
          </a:p>
          <a:p>
            <a:pPr marL="342900" indent="-342900"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it-IT" sz="2800" dirty="0">
                <a:solidFill>
                  <a:schemeClr val="bg1"/>
                </a:solidFill>
                <a:latin typeface="Amasis MT Pro Medium" panose="02040604050005020304" pitchFamily="18" charset="0"/>
              </a:rPr>
              <a:t>Pattern DAO</a:t>
            </a:r>
          </a:p>
          <a:p>
            <a:pPr marL="342900" indent="-342900"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it-IT" sz="2800" dirty="0">
                <a:solidFill>
                  <a:schemeClr val="bg1"/>
                </a:solidFill>
                <a:latin typeface="Amasis MT Pro Medium" panose="02040604050005020304" pitchFamily="18" charset="0"/>
              </a:rPr>
              <a:t>Un grafico</a:t>
            </a:r>
          </a:p>
          <a:p>
            <a:pPr marL="342900" indent="-342900"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it-IT" sz="2800" dirty="0">
                <a:solidFill>
                  <a:schemeClr val="bg1"/>
                </a:solidFill>
                <a:latin typeface="Amasis MT Pro Medium" panose="02040604050005020304" pitchFamily="18" charset="0"/>
              </a:rPr>
              <a:t>Un chatbot</a:t>
            </a:r>
          </a:p>
          <a:p>
            <a:pPr marL="342900" indent="-342900"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it-IT" sz="2800" dirty="0">
                <a:solidFill>
                  <a:schemeClr val="bg1"/>
                </a:solidFill>
                <a:latin typeface="Amasis MT Pro Medium" panose="02040604050005020304" pitchFamily="18" charset="0"/>
              </a:rPr>
              <a:t>Utilizzate API esterne</a:t>
            </a:r>
          </a:p>
        </p:txBody>
      </p:sp>
    </p:spTree>
    <p:extLst>
      <p:ext uri="{BB962C8B-B14F-4D97-AF65-F5344CB8AC3E}">
        <p14:creationId xmlns:p14="http://schemas.microsoft.com/office/powerpoint/2010/main" val="5750394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483</Words>
  <Application>Microsoft Office PowerPoint</Application>
  <PresentationFormat>Widescreen</PresentationFormat>
  <Paragraphs>103</Paragraphs>
  <Slides>15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6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andrea mirarchi</dc:creator>
  <cp:lastModifiedBy>Andrea Mirarchi</cp:lastModifiedBy>
  <cp:revision>89</cp:revision>
  <dcterms:created xsi:type="dcterms:W3CDTF">2025-09-04T23:12:11Z</dcterms:created>
  <dcterms:modified xsi:type="dcterms:W3CDTF">2026-03-15T17:41:09Z</dcterms:modified>
</cp:coreProperties>
</file>